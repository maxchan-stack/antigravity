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325" r:id="rId4"/>
    <p:sldId id="319" r:id="rId5"/>
    <p:sldId id="320" r:id="rId6"/>
    <p:sldId id="318" r:id="rId7"/>
    <p:sldId id="285" r:id="rId8"/>
    <p:sldId id="323" r:id="rId9"/>
    <p:sldId id="316" r:id="rId10"/>
    <p:sldId id="326" r:id="rId11"/>
    <p:sldId id="327" r:id="rId12"/>
    <p:sldId id="328" r:id="rId13"/>
    <p:sldId id="329" r:id="rId14"/>
    <p:sldId id="305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525" y="-14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35C1DF72-FFD4-4106-900F-128E4A06BA8D}" type="datetimeFigureOut">
              <a:rPr lang="zh-TW" altLang="en-US" smtClean="0"/>
              <a:t>2017/10/30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3BC3D3C-A09F-445C-867A-DA5837F9A16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scigame.ntcu.edu.tw/water/waterpic/sink_float.mpg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548681"/>
            <a:ext cx="7772400" cy="305177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科學探究與趣味實驗課程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浮沉子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3200" dirty="0" smtClean="0"/>
              <a:t>(</a:t>
            </a:r>
            <a:r>
              <a:rPr lang="zh-TW" altLang="en-US" sz="3200" dirty="0"/>
              <a:t>一壓一放，如同潛水艇可以控制下沉、上升喔</a:t>
            </a:r>
            <a:r>
              <a:rPr lang="zh-TW" altLang="en-US" sz="3200" dirty="0" smtClean="0"/>
              <a:t>！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4149080"/>
            <a:ext cx="6400800" cy="825128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內湖高工自然領域教學團隊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2564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27585" y="2930272"/>
            <a:ext cx="4680520" cy="3163024"/>
          </a:xfrm>
        </p:spPr>
        <p:txBody>
          <a:bodyPr>
            <a:normAutofit/>
          </a:bodyPr>
          <a:lstStyle/>
          <a:p>
            <a:r>
              <a:rPr lang="zh-TW" altLang="en-US" b="1" dirty="0" smtClean="0"/>
              <a:t>水</a:t>
            </a:r>
            <a:r>
              <a:rPr lang="zh-TW" altLang="en-US" b="1" dirty="0"/>
              <a:t>棲動物浮遊或潛水自如，多令人</a:t>
            </a:r>
            <a:r>
              <a:rPr lang="zh-TW" altLang="en-US" b="1" dirty="0" smtClean="0"/>
              <a:t>羨慕</a:t>
            </a:r>
            <a:r>
              <a:rPr lang="zh-TW" altLang="en-US" b="1" dirty="0"/>
              <a:t>。大小游魚悠哉悠哉，而大如潛水艇</a:t>
            </a:r>
            <a:r>
              <a:rPr lang="zh-TW" altLang="en-US" b="1" dirty="0" smtClean="0"/>
              <a:t>亦能</a:t>
            </a:r>
            <a:r>
              <a:rPr lang="zh-TW" altLang="en-US" b="1" dirty="0"/>
              <a:t>浮沉，控制自如。本實驗模仿游魚與</a:t>
            </a:r>
            <a:r>
              <a:rPr lang="zh-TW" altLang="en-US" b="1" dirty="0" smtClean="0"/>
              <a:t>潛水艇</a:t>
            </a:r>
            <a:r>
              <a:rPr lang="zh-TW" altLang="en-US" b="1" dirty="0"/>
              <a:t>，操控浮沉子的沉浮次序，以了解</a:t>
            </a:r>
            <a:r>
              <a:rPr lang="zh-TW" altLang="en-US" b="1" dirty="0" smtClean="0"/>
              <a:t>浮沉</a:t>
            </a:r>
            <a:r>
              <a:rPr lang="zh-TW" altLang="en-US" b="1" dirty="0"/>
              <a:t>子的質量、體積與密度以及其對沉浮</a:t>
            </a:r>
            <a:r>
              <a:rPr lang="zh-TW" altLang="en-US" b="1" dirty="0" smtClean="0"/>
              <a:t>的關係。</a:t>
            </a:r>
            <a:endParaRPr lang="zh-TW" altLang="en-US" b="1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/>
              <a:t>浮沉子</a:t>
            </a:r>
            <a:r>
              <a:rPr lang="zh-TW" altLang="zh-TW" b="1" dirty="0" smtClean="0"/>
              <a:t>實驗</a:t>
            </a:r>
            <a:endParaRPr lang="zh-TW" altLang="en-US" dirty="0"/>
          </a:p>
        </p:txBody>
      </p:sp>
      <p:sp>
        <p:nvSpPr>
          <p:cNvPr id="6" name="內容版面配置區 1"/>
          <p:cNvSpPr txBox="1">
            <a:spLocks/>
          </p:cNvSpPr>
          <p:nvPr/>
        </p:nvSpPr>
        <p:spPr>
          <a:xfrm>
            <a:off x="755576" y="1988840"/>
            <a:ext cx="7408333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 smtClean="0"/>
              <a:t>一</a:t>
            </a:r>
            <a:r>
              <a:rPr lang="en-US" altLang="zh-TW" sz="2800" b="1" dirty="0" smtClean="0"/>
              <a:t>.</a:t>
            </a:r>
            <a:r>
              <a:rPr lang="zh-TW" altLang="en-US" sz="2800" b="1" dirty="0" smtClean="0"/>
              <a:t> 目的</a:t>
            </a:r>
            <a:endParaRPr lang="zh-TW" alt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3429000"/>
            <a:ext cx="310435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7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72067" y="2675467"/>
            <a:ext cx="5572141" cy="3849877"/>
          </a:xfrm>
        </p:spPr>
        <p:txBody>
          <a:bodyPr>
            <a:normAutofit/>
          </a:bodyPr>
          <a:lstStyle/>
          <a:p>
            <a:r>
              <a:rPr lang="zh-TW" altLang="en-US" b="1" dirty="0"/>
              <a:t>沉浮子浮在水面時，其重量與沉浮子內部的空氣所提供的浮力互相平衡，壓寶特瓶時，因為水的壓力增加，水會進入沉浮子而減少其內部空氣的體積（空氣的粒子數沒有減少），浮力因而降低，沉浮子就會沉下去。反之，放鬆寶特瓶，水的壓力降低時，沉浮子內部空氣的相對壓力較大，會將水擠出，使沉浮子空氣體積增加，浮力也增加了。</a:t>
            </a:r>
          </a:p>
        </p:txBody>
      </p:sp>
      <p:sp>
        <p:nvSpPr>
          <p:cNvPr id="6" name="內容版面配置區 1"/>
          <p:cNvSpPr txBox="1">
            <a:spLocks/>
          </p:cNvSpPr>
          <p:nvPr/>
        </p:nvSpPr>
        <p:spPr>
          <a:xfrm>
            <a:off x="755576" y="1988840"/>
            <a:ext cx="7408333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 smtClean="0"/>
              <a:t>二</a:t>
            </a:r>
            <a:r>
              <a:rPr lang="en-US" altLang="zh-TW" sz="2800" b="1" dirty="0" smtClean="0"/>
              <a:t>.</a:t>
            </a:r>
            <a:r>
              <a:rPr lang="zh-TW" altLang="en-US" sz="2800" b="1" dirty="0" smtClean="0"/>
              <a:t> 實驗原理</a:t>
            </a:r>
            <a:r>
              <a:rPr lang="en-US" altLang="zh-TW" sz="2800" b="1" dirty="0"/>
              <a:t>  (Physics Principles)</a:t>
            </a:r>
            <a:endParaRPr lang="zh-TW" altLang="en-US" sz="2800" dirty="0"/>
          </a:p>
        </p:txBody>
      </p:sp>
      <p:pic>
        <p:nvPicPr>
          <p:cNvPr id="1026" name="Picture 2" descr="File:Cartesian diver.og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5" y="2945120"/>
            <a:ext cx="2309751" cy="30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27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47800" y="1772816"/>
            <a:ext cx="739660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chemeClr val="tx2"/>
                </a:solidFill>
              </a:rPr>
              <a:t>浮沉子浮在水面時，其重量向下與浮沉子所受向上的浮力成平衡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，如果</a:t>
            </a:r>
            <a:r>
              <a:rPr lang="zh-TW" altLang="en-US" sz="2400" b="1" dirty="0">
                <a:solidFill>
                  <a:schemeClr val="tx2"/>
                </a:solidFill>
              </a:rPr>
              <a:t>要讓浮沉子聽話下沉，就必需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改變沒入</a:t>
            </a:r>
            <a:r>
              <a:rPr lang="zh-TW" altLang="en-US" sz="2400" b="1" dirty="0">
                <a:solidFill>
                  <a:schemeClr val="tx2"/>
                </a:solidFill>
              </a:rPr>
              <a:t>水中的體積（阿基米德原理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），當沒入</a:t>
            </a:r>
            <a:r>
              <a:rPr lang="zh-TW" altLang="en-US" sz="2400" b="1" dirty="0">
                <a:solidFill>
                  <a:schemeClr val="tx2"/>
                </a:solidFill>
              </a:rPr>
              <a:t>水中的體積縮小造成浮力減少就可以操控浮沉子下降。手壓迫寶特瓶時，因為保特瓶內壓力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增加也使吸管體積外在</a:t>
            </a:r>
            <a:r>
              <a:rPr lang="zh-TW" altLang="en-US" sz="2400" b="1" dirty="0">
                <a:solidFill>
                  <a:schemeClr val="tx2"/>
                </a:solidFill>
              </a:rPr>
              <a:t>壓力增加而造成體積變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小</a:t>
            </a:r>
            <a:r>
              <a:rPr lang="zh-TW" altLang="en-US" sz="2400" b="1" dirty="0">
                <a:solidFill>
                  <a:schemeClr val="tx2"/>
                </a:solidFill>
              </a:rPr>
              <a:t>（帕斯卡原理） 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，</a:t>
            </a:r>
            <a:r>
              <a:rPr lang="zh-TW" altLang="en-US" sz="2400" b="1" dirty="0">
                <a:solidFill>
                  <a:schemeClr val="tx2"/>
                </a:solidFill>
              </a:rPr>
              <a:t>空氣體積受到壓縮變小但氣體質量不變密度變大了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，浮</a:t>
            </a:r>
            <a:r>
              <a:rPr lang="zh-TW" altLang="en-US" sz="2400" b="1" dirty="0">
                <a:solidFill>
                  <a:schemeClr val="tx2"/>
                </a:solidFill>
              </a:rPr>
              <a:t>沉子就會沉下去。反之，當手鬆開寶特瓶時，瓶內壓力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降低吸管</a:t>
            </a:r>
            <a:r>
              <a:rPr lang="zh-TW" altLang="en-US" sz="2400" b="1" dirty="0">
                <a:solidFill>
                  <a:schemeClr val="tx2"/>
                </a:solidFill>
              </a:rPr>
              <a:t>體積因所受壓力變小而體積膨脹，浮沉子密度就會變小與排開水量增加浮力增大了，因此合力向上，浮沉子就開始向上移動。</a:t>
            </a:r>
          </a:p>
        </p:txBody>
      </p:sp>
    </p:spTree>
    <p:extLst>
      <p:ext uri="{BB962C8B-B14F-4D97-AF65-F5344CB8AC3E}">
        <p14:creationId xmlns:p14="http://schemas.microsoft.com/office/powerpoint/2010/main" val="169314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872067" y="1916832"/>
            <a:ext cx="7408333" cy="3450696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 smtClean="0">
                <a:latin typeface="+mn-ea"/>
              </a:rPr>
              <a:t>阿</a:t>
            </a:r>
            <a:r>
              <a:rPr lang="zh-TW" altLang="en-US" b="1" dirty="0">
                <a:latin typeface="+mn-ea"/>
              </a:rPr>
              <a:t>基米得原理</a:t>
            </a:r>
            <a:r>
              <a:rPr lang="en-US" altLang="zh-TW" b="1" dirty="0">
                <a:latin typeface="+mn-ea"/>
              </a:rPr>
              <a:t>:</a:t>
            </a:r>
            <a:r>
              <a:rPr lang="zh-TW" altLang="en-US" b="1" dirty="0">
                <a:latin typeface="+mn-ea"/>
              </a:rPr>
              <a:t>一個物體在液體中得到的浮力等於其所排開的液體的重量。也可以牛頓第三運動定律解釋：作用力（排開的液重）等於反作用力（浮力）</a:t>
            </a:r>
            <a:r>
              <a:rPr lang="zh-TW" altLang="en-US" b="1" dirty="0" smtClean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pPr marL="0" indent="0">
              <a:buNone/>
            </a:pPr>
            <a:endParaRPr lang="en-US" altLang="zh-TW" b="1" dirty="0" smtClean="0">
              <a:latin typeface="+mn-ea"/>
            </a:endParaRPr>
          </a:p>
          <a:p>
            <a:r>
              <a:rPr lang="zh-TW" altLang="en-US" b="1" dirty="0">
                <a:latin typeface="+mn-ea"/>
              </a:rPr>
              <a:t>帕斯卡原理：密閉流體中的任一部分受到壓力，所受的壓力可以傳至流體的每一部分，而且大小不變。應用在煞車系統、千斤頂、水槍。</a:t>
            </a:r>
            <a:endParaRPr lang="zh-TW" altLang="zh-TW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491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72067" y="2675467"/>
            <a:ext cx="7408333" cy="537509"/>
          </a:xfrm>
        </p:spPr>
        <p:txBody>
          <a:bodyPr>
            <a:normAutofit/>
          </a:bodyPr>
          <a:lstStyle/>
          <a:p>
            <a:r>
              <a:rPr lang="zh-TW" altLang="en-US" b="1" dirty="0"/>
              <a:t>寶特瓶、吸管、迴紋針、</a:t>
            </a:r>
            <a:r>
              <a:rPr lang="zh-TW" altLang="en-US" b="1" dirty="0" smtClean="0"/>
              <a:t>剪刀</a:t>
            </a:r>
            <a:endParaRPr lang="zh-TW" altLang="en-US" dirty="0"/>
          </a:p>
        </p:txBody>
      </p:sp>
      <p:sp>
        <p:nvSpPr>
          <p:cNvPr id="5" name="內容版面配置區 1"/>
          <p:cNvSpPr txBox="1">
            <a:spLocks/>
          </p:cNvSpPr>
          <p:nvPr/>
        </p:nvSpPr>
        <p:spPr>
          <a:xfrm>
            <a:off x="755576" y="1988840"/>
            <a:ext cx="7408333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 smtClean="0"/>
              <a:t>三</a:t>
            </a:r>
            <a:r>
              <a:rPr lang="en-US" altLang="zh-TW" sz="2800" b="1" dirty="0" smtClean="0"/>
              <a:t>.</a:t>
            </a:r>
            <a:r>
              <a:rPr lang="zh-TW" altLang="en-US" sz="2800" b="1" dirty="0" smtClean="0"/>
              <a:t> 實驗器材</a:t>
            </a:r>
            <a:endParaRPr lang="zh-TW" altLang="en-US" sz="2800" dirty="0"/>
          </a:p>
        </p:txBody>
      </p:sp>
      <p:pic>
        <p:nvPicPr>
          <p:cNvPr id="6" name="Picture 1" descr="http://scigame.ntcu.edu.tw/water/waterpic/01_Clip_fig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56992"/>
            <a:ext cx="3960440" cy="275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64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72067" y="2675467"/>
            <a:ext cx="7408333" cy="1401605"/>
          </a:xfrm>
        </p:spPr>
        <p:txBody>
          <a:bodyPr>
            <a:normAutofit/>
          </a:bodyPr>
          <a:lstStyle/>
          <a:p>
            <a:r>
              <a:rPr lang="zh-TW" altLang="en-US" b="1" dirty="0"/>
              <a:t>剪一小段吸管（約</a:t>
            </a:r>
            <a:r>
              <a:rPr lang="en-US" altLang="zh-TW" b="1" dirty="0"/>
              <a:t>6</a:t>
            </a:r>
            <a:r>
              <a:rPr lang="zh-TW" altLang="en-US" b="1" dirty="0"/>
              <a:t>公分），再對摺</a:t>
            </a:r>
            <a:r>
              <a:rPr lang="zh-TW" altLang="en-US" b="1" dirty="0" smtClean="0"/>
              <a:t>。</a:t>
            </a:r>
            <a:endParaRPr lang="en-US" altLang="zh-TW" b="1" dirty="0" smtClean="0"/>
          </a:p>
          <a:p>
            <a:r>
              <a:rPr lang="zh-TW" altLang="en-US" b="1" dirty="0"/>
              <a:t>將迴紋針套進對摺的吸管管口，使吸管不會張開，就完成了沉浮子</a:t>
            </a:r>
            <a:r>
              <a:rPr lang="zh-TW" altLang="en-US" b="1" dirty="0" smtClean="0"/>
              <a:t>。</a:t>
            </a:r>
            <a:endParaRPr lang="en-US" altLang="zh-TW" b="1" dirty="0" smtClean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內容版面配置區 1"/>
          <p:cNvSpPr txBox="1">
            <a:spLocks/>
          </p:cNvSpPr>
          <p:nvPr/>
        </p:nvSpPr>
        <p:spPr>
          <a:xfrm>
            <a:off x="755576" y="1988840"/>
            <a:ext cx="7408333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 smtClean="0"/>
              <a:t>三</a:t>
            </a:r>
            <a:r>
              <a:rPr lang="en-US" altLang="zh-TW" sz="2800" b="1" dirty="0" smtClean="0"/>
              <a:t>.</a:t>
            </a:r>
            <a:r>
              <a:rPr lang="zh-TW" altLang="en-US" sz="2800" b="1" dirty="0" smtClean="0"/>
              <a:t> 實驗步驟</a:t>
            </a:r>
            <a:r>
              <a:rPr lang="en-US" altLang="zh-TW" sz="2800" b="1" dirty="0"/>
              <a:t>  (Proximity Sensor)</a:t>
            </a:r>
            <a:endParaRPr lang="zh-TW" altLang="en-US" sz="28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149080"/>
            <a:ext cx="2808312" cy="210623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044" y="4173696"/>
            <a:ext cx="2808312" cy="210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9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882619" y="1772817"/>
            <a:ext cx="7408333" cy="24482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 smtClean="0"/>
              <a:t>將水盆或杯子裝水，把做好的沉浮子輕輕放入。</a:t>
            </a:r>
            <a:endParaRPr lang="en-US" altLang="zh-TW" b="1" dirty="0" smtClean="0"/>
          </a:p>
          <a:p>
            <a:r>
              <a:rPr lang="zh-TW" altLang="en-US" b="1" dirty="0" smtClean="0"/>
              <a:t>調整沉浮玩偶只浮出水面一點點（不要超過</a:t>
            </a:r>
            <a:r>
              <a:rPr lang="en-US" altLang="zh-TW" b="1" dirty="0" smtClean="0"/>
              <a:t>0.2</a:t>
            </a:r>
            <a:r>
              <a:rPr lang="zh-TW" altLang="en-US" b="1" dirty="0" smtClean="0"/>
              <a:t>公分）。 </a:t>
            </a:r>
          </a:p>
          <a:p>
            <a:pPr marL="630238" indent="-630238">
              <a:buFont typeface="Symbol" pitchFamily="18" charset="2"/>
              <a:buNone/>
            </a:pPr>
            <a:r>
              <a:rPr lang="zh-TW" altLang="en-US" b="1" dirty="0" smtClean="0"/>
              <a:t>    </a:t>
            </a:r>
            <a:r>
              <a:rPr lang="en-US" altLang="zh-TW" b="1" dirty="0" smtClean="0"/>
              <a:t>(1)</a:t>
            </a:r>
            <a:r>
              <a:rPr lang="zh-TW" altLang="en-US" b="1" dirty="0" smtClean="0"/>
              <a:t>如果浮出太高，可以再加迴紋針或是把吸管剪短 一些。 </a:t>
            </a:r>
          </a:p>
          <a:p>
            <a:pPr marL="0" indent="0">
              <a:buFont typeface="Symbol" pitchFamily="18" charset="2"/>
              <a:buNone/>
            </a:pPr>
            <a:r>
              <a:rPr lang="zh-TW" altLang="en-US" b="1" dirty="0" smtClean="0"/>
              <a:t>    </a:t>
            </a:r>
            <a:r>
              <a:rPr lang="en-US" altLang="zh-TW" b="1" dirty="0" smtClean="0"/>
              <a:t>(2)</a:t>
            </a:r>
            <a:r>
              <a:rPr lang="zh-TW" altLang="en-US" b="1" dirty="0" smtClean="0"/>
              <a:t>如果沉下去，可以把迴紋針減少一根再試。 </a:t>
            </a:r>
          </a:p>
          <a:p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630" y="4228049"/>
            <a:ext cx="2784309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4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 txBox="1">
            <a:spLocks/>
          </p:cNvSpPr>
          <p:nvPr/>
        </p:nvSpPr>
        <p:spPr>
          <a:xfrm>
            <a:off x="975845" y="1772816"/>
            <a:ext cx="7408333" cy="1224136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 smtClean="0"/>
              <a:t>將</a:t>
            </a:r>
            <a:r>
              <a:rPr lang="zh-TW" altLang="en-US" b="1" dirty="0"/>
              <a:t>寶特瓶裝滿水，放入做好的沉浮玩偶，旋緊瓶蓋後，用手壓寶特瓶，沉浮子就會沉下去；放鬆，沉浮子就會浮上來喔</a:t>
            </a:r>
            <a:r>
              <a:rPr lang="zh-TW" altLang="en-US" b="1" dirty="0" smtClean="0"/>
              <a:t>。</a:t>
            </a:r>
            <a:endParaRPr lang="en-US" altLang="zh-TW" b="1" dirty="0" smtClean="0"/>
          </a:p>
          <a:p>
            <a:endParaRPr lang="en-US" altLang="zh-TW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1331640" y="5229200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 smtClean="0">
                <a:hlinkClick r:id="rId2"/>
              </a:rPr>
              <a:t>觀看</a:t>
            </a:r>
            <a:r>
              <a:rPr lang="zh-TW" altLang="en-US" sz="2400" b="1" dirty="0">
                <a:hlinkClick r:id="rId2"/>
              </a:rPr>
              <a:t>實驗</a:t>
            </a:r>
            <a:r>
              <a:rPr lang="zh-TW" altLang="en-US" sz="2400" b="1" dirty="0" smtClean="0">
                <a:hlinkClick r:id="rId2"/>
              </a:rPr>
              <a:t>影片</a:t>
            </a:r>
            <a:r>
              <a:rPr lang="en-US" altLang="zh-TW" sz="2400" dirty="0" smtClean="0"/>
              <a:t>(http</a:t>
            </a:r>
            <a:r>
              <a:rPr lang="en-US" altLang="zh-TW" sz="2400" dirty="0"/>
              <a:t>://</a:t>
            </a:r>
            <a:r>
              <a:rPr lang="en-US" altLang="zh-TW" sz="2400" dirty="0" smtClean="0"/>
              <a:t>scigame.ntcu.edu.tw/water/waterpic/sink_float.mpg)</a:t>
            </a:r>
            <a:endParaRPr lang="en-US" altLang="zh-TW" sz="24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96952"/>
            <a:ext cx="288032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1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2132856"/>
            <a:ext cx="36724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/>
            <a:r>
              <a:rPr lang="en-US" altLang="zh-TW" sz="2400" b="1" dirty="0" smtClean="0">
                <a:solidFill>
                  <a:schemeClr val="tx2"/>
                </a:solidFill>
                <a:latin typeface="+mn-ea"/>
              </a:rPr>
              <a:t>1.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剪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一段吸飲料用的透明吸管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(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約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5 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公分長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)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，用打火機、酒精燈或蠟燭的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火焰底部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的外焰熱一熱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(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吸管靠近外焰，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不需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放進焰內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)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，使吸管稍微熔化後用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箝子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夾緊，以封住管口如圖一。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195200"/>
            <a:ext cx="3838340" cy="3322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92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1928835"/>
            <a:ext cx="42484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/>
            <a:r>
              <a:rPr lang="en-US" altLang="zh-TW" sz="2400" b="1" dirty="0" smtClean="0">
                <a:solidFill>
                  <a:schemeClr val="tx2"/>
                </a:solidFill>
                <a:latin typeface="+mn-ea"/>
              </a:rPr>
              <a:t>2.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在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吸管內放入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2~4 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支（視吸管的粗細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與長短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而定）的銅釘（不易生銹）後，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用同樣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的方式封住吸管另一頭的管口。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封這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一個管口時，要與先前封住的管口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垂直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，如圖二。然後在兩端均封了口的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吸管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上端寫一個號碼（例如圖二的上端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寫一個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2 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字），另一端用另一支銅釘扎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一小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孔，如圖二中吸管的下端有一小孔。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135382"/>
            <a:ext cx="3918976" cy="374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33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916832"/>
            <a:ext cx="41044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3525" indent="-263525"/>
            <a:r>
              <a:rPr lang="en-US" altLang="zh-TW" sz="2400" b="1" dirty="0" smtClean="0">
                <a:solidFill>
                  <a:schemeClr val="tx2"/>
                </a:solidFill>
                <a:latin typeface="+mn-ea"/>
              </a:rPr>
              <a:t>3.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將浮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沉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子放入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茶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杯內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的水中（注意看浮沉子的末端，有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一個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小孔的要朝下），用手指壓扁浮沉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子的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中腹部位後，在水中放開手指，浮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沉子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就會吸進一點水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。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細心調整浮沉子內的水量，當手指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放開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後，浮沉子必須只浮出水面一點點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如圖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四，如果不是這樣就要重覆步驟</a:t>
            </a:r>
            <a:r>
              <a:rPr lang="en-US" altLang="zh-TW" sz="2400" b="1" dirty="0">
                <a:solidFill>
                  <a:schemeClr val="tx2"/>
                </a:solidFill>
                <a:latin typeface="+mn-ea"/>
              </a:rPr>
              <a:t>1</a:t>
            </a:r>
            <a:endParaRPr lang="zh-TW" altLang="en-US" sz="2400" b="1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081" y="2117470"/>
            <a:ext cx="3740368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218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7544" y="1772816"/>
            <a:ext cx="403244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en-US" altLang="zh-TW" sz="2400" b="1" dirty="0" smtClean="0">
                <a:solidFill>
                  <a:schemeClr val="tx2"/>
                </a:solidFill>
                <a:latin typeface="+mn-ea"/>
              </a:rPr>
              <a:t>4.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調整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好的浮沉子放入寶特瓶（瓶內裝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水</a:t>
            </a:r>
            <a:r>
              <a:rPr lang="en-US" altLang="zh-TW" sz="2400" b="1" dirty="0" smtClean="0">
                <a:solidFill>
                  <a:schemeClr val="tx2"/>
                </a:solidFill>
                <a:latin typeface="+mn-ea"/>
              </a:rPr>
              <a:t>9.5 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分滿），蓋緊瓶蓋後，用手掌輕壓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瓶子，浮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沉子是否會沉下瓶底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？放鬆壓力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，浮沉子是否會浮上來？若不是，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就必須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取出浮沉子，重新在杯子調整浮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沉子</a:t>
            </a:r>
            <a:r>
              <a:rPr lang="zh-TW" altLang="en-US" sz="2400" b="1" dirty="0">
                <a:solidFill>
                  <a:schemeClr val="tx2"/>
                </a:solidFill>
                <a:latin typeface="+mn-ea"/>
              </a:rPr>
              <a:t>內的水</a:t>
            </a:r>
            <a:r>
              <a:rPr lang="zh-TW" altLang="en-US" sz="2400" b="1" dirty="0" smtClean="0">
                <a:solidFill>
                  <a:schemeClr val="tx2"/>
                </a:solidFill>
                <a:latin typeface="+mn-ea"/>
              </a:rPr>
              <a:t>量，</a:t>
            </a:r>
            <a:r>
              <a:rPr lang="zh-TW" altLang="en-US" sz="2400" b="1" dirty="0">
                <a:solidFill>
                  <a:schemeClr val="tx2"/>
                </a:solidFill>
              </a:rPr>
              <a:t>放入寶特瓶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內觀察</a:t>
            </a:r>
            <a:r>
              <a:rPr lang="zh-TW" altLang="en-US" sz="2400" b="1" dirty="0">
                <a:solidFill>
                  <a:schemeClr val="tx2"/>
                </a:solidFill>
              </a:rPr>
              <a:t>這個透明的浮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沉子</a:t>
            </a:r>
            <a:r>
              <a:rPr lang="zh-TW" altLang="en-US" sz="2400" b="1" dirty="0">
                <a:solidFill>
                  <a:schemeClr val="tx2"/>
                </a:solidFill>
              </a:rPr>
              <a:t>在沉浮的過程中，浮沉子內的水面</a:t>
            </a:r>
            <a:r>
              <a:rPr lang="zh-TW" altLang="en-US" sz="2400" b="1" dirty="0" smtClean="0">
                <a:solidFill>
                  <a:schemeClr val="tx2"/>
                </a:solidFill>
              </a:rPr>
              <a:t>是否</a:t>
            </a:r>
            <a:r>
              <a:rPr lang="zh-TW" altLang="en-US" sz="2400" b="1" dirty="0">
                <a:solidFill>
                  <a:schemeClr val="tx2"/>
                </a:solidFill>
              </a:rPr>
              <a:t>上升或下降，其水面高低相差如何？</a:t>
            </a:r>
            <a:endParaRPr lang="zh-TW" altLang="en-US" sz="2400" b="1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72816"/>
            <a:ext cx="363855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97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1</a:t>
            </a:r>
            <a:r>
              <a:rPr lang="en-US" altLang="zh-TW" b="1" dirty="0" smtClean="0"/>
              <a:t>.</a:t>
            </a:r>
            <a:r>
              <a:rPr lang="zh-TW" altLang="en-US" b="1" dirty="0" smtClean="0"/>
              <a:t>如何製作</a:t>
            </a:r>
            <a:r>
              <a:rPr lang="zh-TW" altLang="en-US" b="1" dirty="0"/>
              <a:t>出數個能夠「依序」先後沉下去的浮沉玩偶，越多個越好（一起下沉或上升的只能算一個</a:t>
            </a:r>
            <a:r>
              <a:rPr lang="zh-TW" altLang="en-US" b="1" dirty="0" smtClean="0"/>
              <a:t>）</a:t>
            </a:r>
            <a:r>
              <a:rPr lang="en-US" altLang="zh-TW" b="1" dirty="0" smtClean="0"/>
              <a:t>?</a:t>
            </a:r>
            <a:endParaRPr lang="zh-TW" altLang="zh-TW" dirty="0"/>
          </a:p>
          <a:p>
            <a:r>
              <a:rPr lang="en-US" altLang="zh-TW" b="1" dirty="0"/>
              <a:t>2</a:t>
            </a:r>
            <a:r>
              <a:rPr lang="en-US" altLang="zh-TW" b="1" dirty="0" smtClean="0"/>
              <a:t>.</a:t>
            </a:r>
            <a:r>
              <a:rPr lang="zh-TW" altLang="en-US" b="1" dirty="0" smtClean="0"/>
              <a:t>可不可以製作</a:t>
            </a:r>
            <a:r>
              <a:rPr lang="zh-TW" altLang="en-US" b="1" dirty="0"/>
              <a:t>出在下沉與上浮過程中會「自轉」的浮沉玩偶</a:t>
            </a:r>
            <a:r>
              <a:rPr lang="en-US" altLang="zh-TW" b="1" dirty="0" smtClean="0"/>
              <a:t>?</a:t>
            </a:r>
            <a:endParaRPr lang="zh-TW" altLang="zh-TW" dirty="0"/>
          </a:p>
          <a:p>
            <a:r>
              <a:rPr lang="en-US" altLang="zh-TW" b="1" dirty="0"/>
              <a:t>3</a:t>
            </a:r>
            <a:r>
              <a:rPr lang="en-US" altLang="zh-TW" b="1" dirty="0" smtClean="0"/>
              <a:t>.</a:t>
            </a:r>
            <a:r>
              <a:rPr lang="zh-TW" altLang="en-US" b="1" dirty="0"/>
              <a:t>想一想，除了吸管以外，還有哪些東西可以用來做沉浮玩偶？（例如：筆套、滴管） </a:t>
            </a:r>
          </a:p>
        </p:txBody>
      </p:sp>
      <p:sp>
        <p:nvSpPr>
          <p:cNvPr id="5" name="內容版面配置區 1"/>
          <p:cNvSpPr txBox="1">
            <a:spLocks/>
          </p:cNvSpPr>
          <p:nvPr/>
        </p:nvSpPr>
        <p:spPr>
          <a:xfrm>
            <a:off x="755576" y="1988840"/>
            <a:ext cx="7408333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 smtClean="0"/>
              <a:t>四</a:t>
            </a:r>
            <a:r>
              <a:rPr lang="en-US" altLang="zh-TW" sz="2800" b="1" dirty="0" smtClean="0"/>
              <a:t>.</a:t>
            </a:r>
            <a:r>
              <a:rPr lang="zh-TW" altLang="en-US" sz="2800" b="1" dirty="0" smtClean="0"/>
              <a:t> </a:t>
            </a:r>
            <a:r>
              <a:rPr lang="zh-TW" altLang="zh-TW" sz="2800" b="1" dirty="0" smtClean="0"/>
              <a:t>問題</a:t>
            </a:r>
            <a:r>
              <a:rPr lang="zh-TW" altLang="zh-TW" sz="2800" b="1" dirty="0"/>
              <a:t>與</a:t>
            </a:r>
            <a:r>
              <a:rPr lang="zh-TW" altLang="zh-TW" sz="2800" b="1" dirty="0" smtClean="0"/>
              <a:t>討論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0469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1159</TotalTime>
  <Words>1088</Words>
  <Application>Microsoft Office PowerPoint</Application>
  <PresentationFormat>如螢幕大小 (4:3)</PresentationFormat>
  <Paragraphs>30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波形</vt:lpstr>
      <vt:lpstr>科學探究與趣味實驗課程 浮沉子 (一壓一放，如同潛水艇可以控制下沉、上升喔！)</vt:lpstr>
      <vt:lpstr>浮沉子實驗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user</cp:lastModifiedBy>
  <cp:revision>42</cp:revision>
  <dcterms:created xsi:type="dcterms:W3CDTF">2017-04-14T14:56:06Z</dcterms:created>
  <dcterms:modified xsi:type="dcterms:W3CDTF">2017-10-29T23:54:46Z</dcterms:modified>
</cp:coreProperties>
</file>